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04b0571904a84" /><Relationship Type="http://schemas.openxmlformats.org/officeDocument/2006/relationships/extended-properties" Target="/docProps/app.xml" Id="R31e3aeb50ab44c16" /><Relationship Type="http://schemas.openxmlformats.org/officeDocument/2006/relationships/officeDocument" Target="/ppt/presentation.xml" Id="Rb73be4508b1a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29484b6934c74"/>
  </p:sldMasterIdLst>
  <p:notesMasterIdLst>
    <p:notesMasterId xmlns:r="http://schemas.openxmlformats.org/officeDocument/2006/relationships" r:id="Rb18cc2b7ab224d0d"/>
  </p:notesMasterIdLst>
  <p:sldIdLst>
    <p:sldId xmlns:r="http://schemas.openxmlformats.org/officeDocument/2006/relationships" id="256" r:id="Rb4124684a98f41bc"/>
    <p:sldId xmlns:r="http://schemas.openxmlformats.org/officeDocument/2006/relationships" id="257" r:id="Rede202ad55084c0b"/>
    <p:sldId xmlns:r="http://schemas.openxmlformats.org/officeDocument/2006/relationships" id="258" r:id="Raf7831e01f0b4b72"/>
    <p:sldId xmlns:r="http://schemas.openxmlformats.org/officeDocument/2006/relationships" id="259" r:id="R101344ee73134a4a"/>
    <p:sldId xmlns:r="http://schemas.openxmlformats.org/officeDocument/2006/relationships" id="260" r:id="Re1ccbf1fa33647d2"/>
    <p:sldId xmlns:r="http://schemas.openxmlformats.org/officeDocument/2006/relationships" id="261" r:id="Ra86fd3ac263741f5"/>
    <p:sldId xmlns:r="http://schemas.openxmlformats.org/officeDocument/2006/relationships" id="262" r:id="Rebbf569c34e54540"/>
    <p:sldId xmlns:r="http://schemas.openxmlformats.org/officeDocument/2006/relationships" id="263" r:id="Rd049c5de4d3e4919"/>
    <p:sldId xmlns:r="http://schemas.openxmlformats.org/officeDocument/2006/relationships" id="264" r:id="Rc77094a784c241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9762ef0d84ad4" /><Relationship Type="http://schemas.openxmlformats.org/officeDocument/2006/relationships/slideMaster" Target="/ppt/slideMasters/slideMaster1.xml" Id="R59f29484b6934c74" /><Relationship Type="http://schemas.openxmlformats.org/officeDocument/2006/relationships/notesMaster" Target="/ppt/notesMasters/notesMaster1.xml" Id="Rb18cc2b7ab224d0d" /><Relationship Type="http://schemas.openxmlformats.org/officeDocument/2006/relationships/presProps" Target="/ppt/presProps.xml" Id="Rc0127891927c40a0" /><Relationship Type="http://schemas.openxmlformats.org/officeDocument/2006/relationships/tableStyles" Target="/ppt/tableStyles.xml" Id="R7070169974a44aa1" /><Relationship Type="http://schemas.openxmlformats.org/officeDocument/2006/relationships/slide" Target="/ppt/slides/slide1.xml" Id="Rb4124684a98f41bc" /><Relationship Type="http://schemas.openxmlformats.org/officeDocument/2006/relationships/slide" Target="/ppt/slides/slide2.xml" Id="Rede202ad55084c0b" /><Relationship Type="http://schemas.openxmlformats.org/officeDocument/2006/relationships/slide" Target="/ppt/slides/slide3.xml" Id="Raf7831e01f0b4b72" /><Relationship Type="http://schemas.openxmlformats.org/officeDocument/2006/relationships/slide" Target="/ppt/slides/slide4.xml" Id="R101344ee73134a4a" /><Relationship Type="http://schemas.openxmlformats.org/officeDocument/2006/relationships/slide" Target="/ppt/slides/slide5.xml" Id="Re1ccbf1fa33647d2" /><Relationship Type="http://schemas.openxmlformats.org/officeDocument/2006/relationships/slide" Target="/ppt/slides/slide6.xml" Id="Ra86fd3ac263741f5" /><Relationship Type="http://schemas.openxmlformats.org/officeDocument/2006/relationships/slide" Target="/ppt/slides/slide7.xml" Id="Rebbf569c34e54540" /><Relationship Type="http://schemas.openxmlformats.org/officeDocument/2006/relationships/slide" Target="/ppt/slides/slide8.xml" Id="Rd049c5de4d3e4919" /><Relationship Type="http://schemas.openxmlformats.org/officeDocument/2006/relationships/slide" Target="/ppt/slides/slide9.xml" Id="Rc77094a784c241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3c37f1ca2a42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43a53f4914add" /><Relationship Type="http://schemas.openxmlformats.org/officeDocument/2006/relationships/notesMaster" Target="/ppt/notesMasters/notesMaster1.xml" Id="Rf3fb02e265d7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6dcbb5230546bc" /><Relationship Type="http://schemas.openxmlformats.org/officeDocument/2006/relationships/notesMaster" Target="/ppt/notesMasters/notesMaster1.xml" Id="R3722a3697df7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ac254e2b4d4f8a" /><Relationship Type="http://schemas.openxmlformats.org/officeDocument/2006/relationships/notesMaster" Target="/ppt/notesMasters/notesMaster1.xml" Id="R07b14928777a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59bc4932644e4" /><Relationship Type="http://schemas.openxmlformats.org/officeDocument/2006/relationships/notesMaster" Target="/ppt/notesMasters/notesMaster1.xml" Id="R16f197b00da042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21715b31c343d3" /><Relationship Type="http://schemas.openxmlformats.org/officeDocument/2006/relationships/notesMaster" Target="/ppt/notesMasters/notesMaster1.xml" Id="R10d4998569b0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1e69a1b9d4c9c" /><Relationship Type="http://schemas.openxmlformats.org/officeDocument/2006/relationships/notesMaster" Target="/ppt/notesMasters/notesMaster1.xml" Id="Rc0aa448c49b64d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6753c1d99422e" /><Relationship Type="http://schemas.openxmlformats.org/officeDocument/2006/relationships/notesMaster" Target="/ppt/notesMasters/notesMaster1.xml" Id="Rb6605f35e66440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de28be98a049c4" /><Relationship Type="http://schemas.openxmlformats.org/officeDocument/2006/relationships/notesMaster" Target="/ppt/notesMasters/notesMaster1.xml" Id="Rf87d314e030b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1065beb114a58" /><Relationship Type="http://schemas.openxmlformats.org/officeDocument/2006/relationships/notesMaster" Target="/ppt/notesMasters/notesMaster1.xml" Id="R3428fda3324842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 Market-source investigation: https://aishe.gov.in/ and https://dashboard.aishe.gov.in/hedirectory . No external institution data imported; see docs/SOURCES.md.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 Funnel measures ever-entered stages. Recent cohorts remain right-censored. Lowest adjacent-stage ratio among stages with &gt;=20 entries; not a final transition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 No market-size conclusion. Territory indices and records are synthetic. Review lead mix and cohort maturity before reallocating staff.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 Stage probabilities 3/10/18/30/50/70 percent, scaled by 0.7/1.0/1.3, capped at 100 percent. Excludes 224 past-due open opportunities worth INR 70,993,000. Scenarios are not confidence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data/report_inputs.json and data/summary.json. Snapshot 30 September 2026; fixed seed 20261017. All commercial results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376d7759d4c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f3821904a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5ebd93ab34b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811439b174e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5599fe0e543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5aaa651a449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1D367A-231F-4296-A8D9-8DEF04E52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31D2E1-9BA4-4505-A768-05AECEAEBE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062114-4644-4C54-BF39-37AF8F9B9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899442-AE1B-4287-A370-E82D92214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BA4B3F-5CF3-4108-A14A-ACCE98C2C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1F9E78-4E2C-47D9-9B68-65CB4185A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73065F-5A69-45F1-A0D5-89E096F2E7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2CF0BA-7E02-4C4A-83FD-2A40625F19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865628-7D90-4528-85FE-DC45EE5C3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8FB03D-BC03-4C3A-B0D9-B09943D46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e7d0d416549bc" /><Relationship Type="http://schemas.openxmlformats.org/officeDocument/2006/relationships/slideLayout" Target="/ppt/slideLayouts/slideLayout1.xml" Id="R5c38d4133a2542e4" /><Relationship Type="http://schemas.openxmlformats.org/officeDocument/2006/relationships/slideLayout" Target="/ppt/slideLayouts/slideLayout2.xml" Id="R4cf2f2bfc359481e" /><Relationship Type="http://schemas.openxmlformats.org/officeDocument/2006/relationships/slideLayout" Target="/ppt/slideLayouts/slideLayout3.xml" Id="R3d3a092741a3451e" /><Relationship Type="http://schemas.openxmlformats.org/officeDocument/2006/relationships/slideLayout" Target="/ppt/slideLayouts/slideLayout4.xml" Id="Rd30f2d9d8a4d4e4f" /><Relationship Type="http://schemas.openxmlformats.org/officeDocument/2006/relationships/slideLayout" Target="/ppt/slideLayouts/slideLayout5.xml" Id="Rbcac0e7507fa433e" /><Relationship Type="http://schemas.openxmlformats.org/officeDocument/2006/relationships/slideLayout" Target="/ppt/slideLayouts/slideLayout6.xml" Id="R588cbf00c2e3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8d4133a2542e4"/>
    <p:sldLayoutId xmlns:r="http://schemas.openxmlformats.org/officeDocument/2006/relationships" id="2147483650" r:id="R4cf2f2bfc359481e"/>
    <p:sldLayoutId xmlns:r="http://schemas.openxmlformats.org/officeDocument/2006/relationships" id="2147483651" r:id="R3d3a092741a3451e"/>
    <p:sldLayoutId xmlns:r="http://schemas.openxmlformats.org/officeDocument/2006/relationships" id="2147483652" r:id="Rd30f2d9d8a4d4e4f"/>
    <p:sldLayoutId xmlns:r="http://schemas.openxmlformats.org/officeDocument/2006/relationships" id="2147483653" r:id="Rbcac0e7507fa433e"/>
    <p:sldLayoutId xmlns:r="http://schemas.openxmlformats.org/officeDocument/2006/relationships" id="2147483654" r:id="R588cbf00c2e3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7f01cb75949ee" /><Relationship Type="http://schemas.openxmlformats.org/officeDocument/2006/relationships/notesSlide" Target="/ppt/notesSlides/notesSlide1.xml" Id="R0612920fbaa0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68fba47d64fac" /><Relationship Type="http://schemas.openxmlformats.org/officeDocument/2006/relationships/notesSlide" Target="/ppt/notesSlides/notesSlide2.xml" Id="Rc9423926dd2a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f28b30057407e" /><Relationship Type="http://schemas.openxmlformats.org/officeDocument/2006/relationships/notesSlide" Target="/ppt/notesSlides/notesSlide3.xml" Id="Rb8808557eb2a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d99c9d9b04479" /><Relationship Type="http://schemas.openxmlformats.org/officeDocument/2006/relationships/chart" Target="/ppt/slides/charts/chart1.xml" Id="R8b53c2759c1e4526" /><Relationship Type="http://schemas.openxmlformats.org/officeDocument/2006/relationships/notesSlide" Target="/ppt/notesSlides/notesSlide4.xml" Id="R8fa74b590401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6098f081b4c00" /><Relationship Type="http://schemas.openxmlformats.org/officeDocument/2006/relationships/chart" Target="/ppt/slides/charts/chart2.xml" Id="R0eedc45e9f88435f" /><Relationship Type="http://schemas.openxmlformats.org/officeDocument/2006/relationships/notesSlide" Target="/ppt/notesSlides/notesSlide5.xml" Id="R1f172e6c81f7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b57e1f9034dd2" /><Relationship Type="http://schemas.openxmlformats.org/officeDocument/2006/relationships/chart" Target="/ppt/slides/charts/chart3.xml" Id="Re7f2b586263245d4" /><Relationship Type="http://schemas.openxmlformats.org/officeDocument/2006/relationships/notesSlide" Target="/ppt/notesSlides/notesSlide6.xml" Id="Rd4ccc4060a124a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66099eb6a4dd8" /><Relationship Type="http://schemas.openxmlformats.org/officeDocument/2006/relationships/chart" Target="/ppt/slides/charts/chart4.xml" Id="Rcadbd1a78f6a461f" /><Relationship Type="http://schemas.openxmlformats.org/officeDocument/2006/relationships/notesSlide" Target="/ppt/notesSlides/notesSlide7.xml" Id="Ra74950a9439d49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9c8a8ea7242cb" /><Relationship Type="http://schemas.openxmlformats.org/officeDocument/2006/relationships/notesSlide" Target="/ppt/notesSlides/notesSlide8.xml" Id="R53f4afdbf73442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1aa1c104c4f0d" /><Relationship Type="http://schemas.openxmlformats.org/officeDocument/2006/relationships/notesSlide" Target="/ppt/notesSlides/notesSlide9.xml" Id="R150db2ac0bc044c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INR lakh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Active pipeline</c:v>
                </c:pt>
                <c:pt idx="1">
                  <c:v>Signed value</c:v>
                </c:pt>
                <c:pt idx="2">
                  <c:v>Accrued revenue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1092.3</c:v>
                </c:pt>
                <c:pt idx="1">
                  <c:v>168.86</c:v>
                </c:pt>
                <c:pt idx="2">
                  <c:v>57.3615617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Distinct opportunities reached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Prospect</c:v>
                </c:pt>
                <c:pt idx="1">
                  <c:v>Qualified</c:v>
                </c:pt>
                <c:pt idx="2">
                  <c:v>Initial Contact</c:v>
                </c:pt>
                <c:pt idx="3">
                  <c:v>Meeting</c:v>
                </c:pt>
                <c:pt idx="4">
                  <c:v>Proposal</c:v>
                </c:pt>
                <c:pt idx="5">
                  <c:v>Negotiation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600</c:v>
                </c:pt>
                <c:pt idx="1">
                  <c:v>418</c:v>
                </c:pt>
                <c:pt idx="2">
                  <c:v>296</c:v>
                </c:pt>
                <c:pt idx="3">
                  <c:v>206</c:v>
                </c:pt>
                <c:pt idx="4">
                  <c:v>146</c:v>
                </c:pt>
                <c:pt idx="5">
                  <c:v>75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Active pipeline, INR lakh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Northeast</c:v>
                </c:pt>
                <c:pt idx="4">
                  <c:v>South</c:v>
                </c:pt>
                <c:pt idx="5">
                  <c:v>West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48.29</c:v>
                </c:pt>
                <c:pt idx="1">
                  <c:v>207.73</c:v>
                </c:pt>
                <c:pt idx="2">
                  <c:v>292.12</c:v>
                </c:pt>
                <c:pt idx="3">
                  <c:v>69.38</c:v>
                </c:pt>
                <c:pt idx="4">
                  <c:v>236.78</c:v>
                </c:pt>
                <c:pt idx="5">
                  <c:v>238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INR lakh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Optimistic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34.3826</c:v>
                </c:pt>
                <c:pt idx="1">
                  <c:v>49.118</c:v>
                </c:pt>
                <c:pt idx="2">
                  <c:v>63.8534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9178-9003-4658-B824-EC5892A3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University partnership</a:t>
            </a:r>
          </a:p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sales pipeline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1DFC9-6D5F-4212-A560-5AC35F74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Leadership review | October 2025 to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BC54-5EE6-499C-83AB-7C39C165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1   CampusBridge Demo • Fictional portfolio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CA495-AF49-4F07-9F52-D518FFDA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Pipeline hygiene before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28C7B-F544-4647-A066-2C19944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Harsh Vardhan Tomar</a:t>
            </a:r>
          </a:p>
          <a:p xmlns:a="http://schemas.openxmlformats.org/drawingml/2006/main">
            <a:pPr>
              <a:defRPr sz="210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Python, SQLite, Streamlit and Excel</a:t>
            </a:r>
          </a:p>
        </p:txBody>
      </p:sp>
    </p:spTree>
    <p:extLst>
      <p:ext uri="{BB962C8B-B14F-4D97-AF65-F5344CB8AC3E}">
        <p14:creationId xmlns:p14="http://schemas.microsoft.com/office/powerpoint/2010/main" val="348236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7D0F-7DA0-4A89-986C-8E1321E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The institutional sales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B4E74-C7EF-4B05-85D5-C73FBA1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A fictional Indian EdTech company needs a consistent account review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4D0EA-A87A-46F4-8CDC-206F145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2   CampusBridge Demo • Fictional portfolio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C5011-84C2-4AB8-85FB-9321965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Which universities deserve the next outreach effort?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3564-E33C-49A1-9F6F-872B4D3F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Where does the opportunity funnel stop progressing?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1B0E-AA55-4900-AD72-2F16750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How much new partnership value could sign next quarter?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87E4-D9A4-42A5-9CE0-71D6262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Managers need explicit metrics before allocating sales capacity.</a:t>
            </a:r>
          </a:p>
        </p:txBody>
      </p:sp>
    </p:spTree>
    <p:extLst>
      <p:ext uri="{BB962C8B-B14F-4D97-AF65-F5344CB8AC3E}">
        <p14:creationId xmlns:p14="http://schemas.microsoft.com/office/powerpoint/2010/main" val="2063237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6AA43-C85F-4467-A364-A183EF5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Reproducible portfolio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F7AAA-1738-4303-8DED-090D197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Real Indian geography with fictional institutions and commercial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74D78-1036-4EE1-8413-ADB6705A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3   CampusBridge Demo • Fictional portfolio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25F74-FA99-4E5A-B1E2-6E9F3B94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9BC2D-7398-442B-BDB3-672A1BF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institutional prospects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5514C-5F11-4054-ADA3-F7901B47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4,399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D151B-9D8D-4217-8CA8-E6D1C144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sales activities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ED705-94A9-49FA-B19B-0689AF0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1,971 stage entries · 57 contracts · 12 months</a:t>
            </a:r>
          </a:p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15 states and UTs · 6 territories · 8 representatives</a:t>
            </a:r>
          </a:p>
        </p:txBody>
      </p:sp>
    </p:spTree>
    <p:extLst>
      <p:ext uri="{BB962C8B-B14F-4D97-AF65-F5344CB8AC3E}">
        <p14:creationId xmlns:p14="http://schemas.microsoft.com/office/powerpoint/2010/main" val="1378088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C74DD-F245-40EF-A408-08A2A47C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Commercial results at the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256D6-ACB5-4BD9-B79B-D2F1EA3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Signed contract value and recognized service revenue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7B273-7946-4A14-B719-1142F6FD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4   CampusBridge Demo • Fictional portfolio simulation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A38E8C8-92A7-423B-93EA-257756EF2E80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53c2759c1e45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FD02-4130-4776-8D38-03B8C7BB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INR lakh; 370 open opportunities; 57 wins; closed-deal win rate 24.78%</a:t>
            </a:r>
          </a:p>
        </p:txBody>
      </p:sp>
    </p:spTree>
    <p:extLst>
      <p:ext uri="{BB962C8B-B14F-4D97-AF65-F5344CB8AC3E}">
        <p14:creationId xmlns:p14="http://schemas.microsoft.com/office/powerpoint/2010/main" val="903427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EA10-8F89-44C8-A7C7-39D4717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Proposal conversion needs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2ADF2-9F88-4CF3-876B-ACE6518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75 of 146 proposal-stage opportunities entered Negotiation: 51.37%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ABE48-D31D-4790-BB00-449C8FA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5   CampusBridge Demo • Fictional portfolio simulation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4EA259D-9796-4C4F-A090-0EB74265AD4E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edc45e9f88435f"/>
          </a:graphicData>
        </a:graphic>
      </p:graphicFrame>
    </p:spTree>
    <p:extLst>
      <p:ext uri="{BB962C8B-B14F-4D97-AF65-F5344CB8AC3E}">
        <p14:creationId xmlns:p14="http://schemas.microsoft.com/office/powerpoint/2010/main" val="636067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BE7F9-56CE-4C07-ADC5-5512CF38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Territory coverage and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25357-CD68-44C2-B5D9-BB18F35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Active pipeline in INR lakh. North has 57 overdue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9D492-904B-46E9-B96C-48D04579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6   CampusBridge Demo • Fictional portfolio simulation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4F89D8E-7412-4342-AB3D-B9F98424D30C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f2b586263245d4"/>
          </a:graphicData>
        </a:graphic>
      </p:graphicFrame>
    </p:spTree>
    <p:extLst>
      <p:ext uri="{BB962C8B-B14F-4D97-AF65-F5344CB8AC3E}">
        <p14:creationId xmlns:p14="http://schemas.microsoft.com/office/powerpoint/2010/main" val="2049180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D2863-1E99-4744-8A32-9A3A03D1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Next-quarter new bookings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45041-9B98-46B9-8FC2-CFAF6700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INR lakh. 108 eligible open deals expected to close in October–December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015F7-76C7-402A-950D-D0FC87F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7   CampusBridge Demo • Fictional portfolio simulation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D2D35A9-9536-4743-962E-361F253D67CD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dbd1a78f6a461f"/>
          </a:graphicData>
        </a:graphic>
      </p:graphicFrame>
    </p:spTree>
    <p:extLst>
      <p:ext uri="{BB962C8B-B14F-4D97-AF65-F5344CB8AC3E}">
        <p14:creationId xmlns:p14="http://schemas.microsoft.com/office/powerpoint/2010/main" val="1750558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F79FC-38B2-4742-AE38-99BE880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Management actions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A1BF4-D9A1-47C4-B7F3-B88B97E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Owners and evidence define the proposed intervention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62BB6-1C6B-4A0B-BFBB-920328AE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8   CampusBridge Demo • Fictional portfolio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58D8-FF01-41D9-BFB9-C33F51A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Sales owners: review 222 overdue next actions within seven days.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E019D-5208-4812-9D8B-2C4A453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Sales manager: requalify 270 deals stalled for more than 30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15590-C011-4D12-962E-8764F7C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Commercial lead: inspect proposal objections behind the 75/146 ratio.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1C2A6-0ED8-4DCC-A74D-4D185926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Sales operations: revise 224 past-due expected close dates.</a:t>
            </a:r>
          </a:p>
        </p:txBody>
      </p:sp>
    </p:spTree>
    <p:extLst>
      <p:ext uri="{BB962C8B-B14F-4D97-AF65-F5344CB8AC3E}">
        <p14:creationId xmlns:p14="http://schemas.microsoft.com/office/powerpoint/2010/main" val="294074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F1C0-50BA-4A66-A6D1-D37E869D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8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F"/>
                </a:solidFill>
                <a:latin typeface="Arial"/>
                <a:ea typeface="Arial"/>
                <a:cs typeface="Arial"/>
              </a:rPr>
              <a:t>Lead priority and interpretation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57230-B3AE-4793-A5F5-3C0CE430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Explainable rules help choose the next account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59A60-7791-46F8-8585-D55A4B4F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9   CampusBridge Demo • Fictional portfolio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276A4-40B8-44A0-B74A-5CC1665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O0426: 80.16/100 priority score and INR 12.23 lakh potential.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DDCAA-B6AB-42D3-B84E-7B2510E7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Eight score components explain the ranking. No ML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2790-047C-4C08-9A6A-55B02849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Synthetic outcomes cannot establish real sales effectiveness.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24C77-D1E4-4AC3-B68F-BA60C52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F46"/>
                </a:solidFill>
                <a:latin typeface="Arial"/>
                <a:ea typeface="Arial"/>
                <a:cs typeface="Arial"/>
              </a:rPr>
              <a:t>Use a consented CRM pilot to calibrate probabilities before real use.</a:t>
            </a:r>
          </a:p>
        </p:txBody>
      </p:sp>
    </p:spTree>
    <p:extLst>
      <p:ext uri="{BB962C8B-B14F-4D97-AF65-F5344CB8AC3E}">
        <p14:creationId xmlns:p14="http://schemas.microsoft.com/office/powerpoint/2010/main" val="1985418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2026-10-17T22:44:49.9080000Z</dcterms:created>
  <dcterms:modified xsi:type="dcterms:W3CDTF">2026-10-17T22:44:49.9080000Z</dcterms:modified>
</coreProperties>
</file>